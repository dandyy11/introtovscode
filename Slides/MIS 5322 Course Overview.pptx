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11"/>
  </p:notesMasterIdLst>
  <p:sldIdLst>
    <p:sldId id="256" r:id="rId2"/>
    <p:sldId id="287" r:id="rId3"/>
    <p:sldId id="298" r:id="rId4"/>
    <p:sldId id="297" r:id="rId5"/>
    <p:sldId id="293" r:id="rId6"/>
    <p:sldId id="307" r:id="rId7"/>
    <p:sldId id="278" r:id="rId8"/>
    <p:sldId id="299" r:id="rId9"/>
    <p:sldId id="28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5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6" autoAdjust="0"/>
    <p:restoredTop sz="93907" autoAdjust="0"/>
  </p:normalViewPr>
  <p:slideViewPr>
    <p:cSldViewPr snapToGrid="0">
      <p:cViewPr varScale="1">
        <p:scale>
          <a:sx n="105" d="100"/>
          <a:sy n="105" d="100"/>
        </p:scale>
        <p:origin x="7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CBB0C1-1499-40E9-9D21-B4B0200AF503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2AB58F-A714-4CA9-881B-7305C33F7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799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2AB58F-A714-4CA9-881B-7305C33F785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129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2AB58F-A714-4CA9-881B-7305C33F785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129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2AB58F-A714-4CA9-881B-7305C33F785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959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2AB58F-A714-4CA9-881B-7305C33F785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9014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2AB58F-A714-4CA9-881B-7305C33F785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3255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AB58F-A714-4CA9-881B-7305C33F785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39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8/26/2024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8/26/2024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8/26/2024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8/26/2024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8/26/2024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8/26/2024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8/26/2024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8/26/2024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tx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8/26/2024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8/26/2024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8/26/2024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chemeClr val="bg2">
              <a:lumMod val="60000"/>
              <a:lumOff val="40000"/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8/26/2024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outlook.office.com/bookwithme/user/bcbd8a448bca48cfa4e44b28288b0090@baylor.edu/meetingtype/8Tm_gHJfQEK-zCHh4OBgrg2?anonymous&amp;ep=mLinkFromTil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Johnny_Bhojwani@baylor.edu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taskque.com/5-hour-rule-learning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199" y="2386744"/>
            <a:ext cx="9403423" cy="1645920"/>
          </a:xfrm>
        </p:spPr>
        <p:txBody>
          <a:bodyPr>
            <a:normAutofit/>
          </a:bodyPr>
          <a:lstStyle/>
          <a:p>
            <a:r>
              <a:rPr lang="en-US" dirty="0"/>
              <a:t>advanced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Professor Johnny Bhojwani</a:t>
            </a:r>
          </a:p>
        </p:txBody>
      </p:sp>
    </p:spTree>
    <p:extLst>
      <p:ext uri="{BB962C8B-B14F-4D97-AF65-F5344CB8AC3E}">
        <p14:creationId xmlns:p14="http://schemas.microsoft.com/office/powerpoint/2010/main" val="1460908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42F89-1978-4CD5-B421-6AF47F35F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077" y="472323"/>
            <a:ext cx="9952892" cy="1188720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9FC68E8-A16F-40CF-991A-A09670CA0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077" y="2321859"/>
            <a:ext cx="9952892" cy="4294094"/>
          </a:xfrm>
        </p:spPr>
        <p:txBody>
          <a:bodyPr>
            <a:normAutofit/>
          </a:bodyPr>
          <a:lstStyle/>
          <a:p>
            <a:r>
              <a:rPr lang="en-US" sz="2400" dirty="0"/>
              <a:t>BS/MS in Information Systems</a:t>
            </a:r>
          </a:p>
          <a:p>
            <a:r>
              <a:rPr lang="en-US" sz="2400" dirty="0"/>
              <a:t>Industry experience of over 17 years employed with Sabre, American Airlines, Church In Irving, Baylor Admissions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Graduate Program Director for MSIS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Consult on research projects and local businesses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Faculty advisor for Fireside Fellowship</a:t>
            </a:r>
          </a:p>
        </p:txBody>
      </p:sp>
    </p:spTree>
    <p:extLst>
      <p:ext uri="{BB962C8B-B14F-4D97-AF65-F5344CB8AC3E}">
        <p14:creationId xmlns:p14="http://schemas.microsoft.com/office/powerpoint/2010/main" val="4064301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 info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1136" y="2412757"/>
            <a:ext cx="9118182" cy="4080808"/>
          </a:xfrm>
        </p:spPr>
        <p:txBody>
          <a:bodyPr>
            <a:normAutofit/>
          </a:bodyPr>
          <a:lstStyle/>
          <a:p>
            <a:r>
              <a:rPr lang="en-US" sz="2400" dirty="0"/>
              <a:t>Office location -  310.20</a:t>
            </a:r>
          </a:p>
          <a:p>
            <a:r>
              <a:rPr lang="en-US" sz="2400" dirty="0">
                <a:effectLst/>
                <a:latin typeface="Arial" panose="020B0604020202020204" pitchFamily="34" charset="0"/>
              </a:rPr>
              <a:t>Office Hours: </a:t>
            </a:r>
          </a:p>
          <a:p>
            <a:pPr marL="914400" lvl="4">
              <a:lnSpc>
                <a:spcPct val="115000"/>
              </a:lnSpc>
              <a:spcBef>
                <a:spcPts val="0"/>
              </a:spcBef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 –11:30 am – 1 pm</a:t>
            </a:r>
          </a:p>
          <a:p>
            <a:pPr marL="914400" lvl="4">
              <a:lnSpc>
                <a:spcPct val="115000"/>
              </a:lnSpc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W – 11:30 am – 1 pm, 4 -5 pm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14400" lvl="4">
              <a:lnSpc>
                <a:spcPct val="115000"/>
              </a:lnSpc>
              <a:spcBef>
                <a:spcPts val="0"/>
              </a:spcBef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 – 11:30 am – 2 pm </a:t>
            </a:r>
          </a:p>
          <a:p>
            <a:pPr marL="914400" lvl="4">
              <a:lnSpc>
                <a:spcPct val="115000"/>
              </a:lnSpc>
              <a:spcBef>
                <a:spcPts val="0"/>
              </a:spcBef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Fridays by appointment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3"/>
            <a:r>
              <a:rPr lang="en-US" sz="2300" u="sng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Get on my calendar </a:t>
            </a:r>
            <a:endParaRPr lang="en-US" sz="2300" u="sng" dirty="0">
              <a:solidFill>
                <a:srgbClr val="0000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dirty="0"/>
              <a:t>Email – </a:t>
            </a:r>
            <a:r>
              <a:rPr lang="en-US" sz="2400" dirty="0">
                <a:hlinkClick r:id="rId4"/>
              </a:rPr>
              <a:t>Johnny_Bhojwani@baylor.edu</a:t>
            </a:r>
            <a:endParaRPr lang="en-US" sz="2400" dirty="0"/>
          </a:p>
          <a:p>
            <a:r>
              <a:rPr lang="en-US" sz="2400" dirty="0"/>
              <a:t>Cell – (214) 924-7435 (Text first!)</a:t>
            </a:r>
          </a:p>
        </p:txBody>
      </p:sp>
    </p:spTree>
    <p:extLst>
      <p:ext uri="{BB962C8B-B14F-4D97-AF65-F5344CB8AC3E}">
        <p14:creationId xmlns:p14="http://schemas.microsoft.com/office/powerpoint/2010/main" val="1753210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1136" y="2412757"/>
            <a:ext cx="7729728" cy="4080808"/>
          </a:xfrm>
        </p:spPr>
        <p:txBody>
          <a:bodyPr>
            <a:normAutofit/>
          </a:bodyPr>
          <a:lstStyle/>
          <a:p>
            <a:pPr lvl="3"/>
            <a:r>
              <a:rPr lang="en-US" sz="2400" dirty="0">
                <a:solidFill>
                  <a:schemeClr val="tx1"/>
                </a:solidFill>
              </a:rPr>
              <a:t>Textbook</a:t>
            </a:r>
          </a:p>
          <a:p>
            <a:pPr marL="1255713" lvl="6">
              <a:lnSpc>
                <a:spcPct val="115000"/>
              </a:lnSpc>
              <a:spcBef>
                <a:spcPts val="0"/>
              </a:spcBef>
            </a:pPr>
            <a:r>
              <a:rPr lang="en-US" sz="1800" dirty="0">
                <a:solidFill>
                  <a:schemeClr val="tx1"/>
                </a:solidFill>
              </a:rPr>
              <a:t>Gaddis, Starting Out with Python, Pearson Education. </a:t>
            </a:r>
          </a:p>
          <a:p>
            <a:pPr marL="1255713" lvl="6">
              <a:lnSpc>
                <a:spcPct val="115000"/>
              </a:lnSpc>
              <a:spcBef>
                <a:spcPts val="0"/>
              </a:spcBef>
            </a:pPr>
            <a:r>
              <a:rPr lang="en-US" sz="1800" dirty="0">
                <a:solidFill>
                  <a:schemeClr val="tx1"/>
                </a:solidFill>
              </a:rPr>
              <a:t>ISBN: 9780134444321</a:t>
            </a:r>
          </a:p>
          <a:p>
            <a:pPr marL="1255713" lvl="6">
              <a:lnSpc>
                <a:spcPct val="115000"/>
              </a:lnSpc>
              <a:spcBef>
                <a:spcPts val="0"/>
              </a:spcBef>
            </a:pPr>
            <a:r>
              <a:rPr lang="en-US" sz="1800" dirty="0" err="1">
                <a:solidFill>
                  <a:schemeClr val="tx1"/>
                </a:solidFill>
              </a:rPr>
              <a:t>Matthes</a:t>
            </a:r>
            <a:r>
              <a:rPr lang="en-US" sz="1800" dirty="0">
                <a:solidFill>
                  <a:schemeClr val="tx1"/>
                </a:solidFill>
              </a:rPr>
              <a:t>, Python Crash Course, No Starch Press</a:t>
            </a:r>
            <a:r>
              <a:rPr lang="en-US" sz="1800" dirty="0"/>
              <a:t>.</a:t>
            </a:r>
            <a:endParaRPr lang="en-US" sz="1800" dirty="0">
              <a:solidFill>
                <a:schemeClr val="tx1"/>
              </a:solidFill>
            </a:endParaRPr>
          </a:p>
          <a:p>
            <a:pPr marL="1255713" lvl="6">
              <a:lnSpc>
                <a:spcPct val="115000"/>
              </a:lnSpc>
              <a:spcBef>
                <a:spcPts val="0"/>
              </a:spcBef>
            </a:pPr>
            <a:r>
              <a:rPr lang="en-US" sz="1800" dirty="0">
                <a:solidFill>
                  <a:schemeClr val="tx1"/>
                </a:solidFill>
              </a:rPr>
              <a:t>ISBN: 9781593279288</a:t>
            </a:r>
          </a:p>
          <a:p>
            <a:pPr lvl="3"/>
            <a:r>
              <a:rPr lang="en-US" sz="2400" dirty="0">
                <a:solidFill>
                  <a:schemeClr val="tx1"/>
                </a:solidFill>
              </a:rPr>
              <a:t>Final Grade Change Allowance</a:t>
            </a:r>
          </a:p>
          <a:p>
            <a:pPr lvl="3"/>
            <a:r>
              <a:rPr lang="en-US" sz="2400" dirty="0">
                <a:solidFill>
                  <a:schemeClr val="tx1"/>
                </a:solidFill>
              </a:rPr>
              <a:t>Recommendation Letters</a:t>
            </a:r>
          </a:p>
          <a:p>
            <a:pPr lvl="3"/>
            <a:r>
              <a:rPr lang="en-US" sz="2400" dirty="0">
                <a:solidFill>
                  <a:schemeClr val="tx1"/>
                </a:solidFill>
              </a:rPr>
              <a:t>Cell Phones</a:t>
            </a:r>
          </a:p>
        </p:txBody>
      </p:sp>
    </p:spTree>
    <p:extLst>
      <p:ext uri="{BB962C8B-B14F-4D97-AF65-F5344CB8AC3E}">
        <p14:creationId xmlns:p14="http://schemas.microsoft.com/office/powerpoint/2010/main" val="3646128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152400"/>
            <a:ext cx="7729728" cy="799443"/>
          </a:xfrm>
        </p:spPr>
        <p:txBody>
          <a:bodyPr/>
          <a:lstStyle/>
          <a:p>
            <a:r>
              <a:rPr lang="en-US" dirty="0"/>
              <a:t>Syllabus – grade breakdown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91D962A-8810-401C-A2DA-6500F641D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326823"/>
              </p:ext>
            </p:extLst>
          </p:nvPr>
        </p:nvGraphicFramePr>
        <p:xfrm>
          <a:off x="820738" y="1344164"/>
          <a:ext cx="10019982" cy="27544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740079">
                  <a:extLst>
                    <a:ext uri="{9D8B030D-6E8A-4147-A177-3AD203B41FA5}">
                      <a16:colId xmlns:a16="http://schemas.microsoft.com/office/drawing/2014/main" val="1714603301"/>
                    </a:ext>
                  </a:extLst>
                </a:gridCol>
                <a:gridCol w="1279903">
                  <a:extLst>
                    <a:ext uri="{9D8B030D-6E8A-4147-A177-3AD203B41FA5}">
                      <a16:colId xmlns:a16="http://schemas.microsoft.com/office/drawing/2014/main" val="538180428"/>
                    </a:ext>
                  </a:extLst>
                </a:gridCol>
              </a:tblGrid>
              <a:tr h="45908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Individual Assignments (6)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effectLst/>
                        </a:rPr>
                        <a:t>10%</a:t>
                      </a:r>
                      <a:endParaRPr lang="en-US" sz="2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5167915"/>
                  </a:ext>
                </a:extLst>
              </a:tr>
              <a:tr h="45908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Quizzes (2)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15%</a:t>
                      </a: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534279"/>
                  </a:ext>
                </a:extLst>
              </a:tr>
              <a:tr h="45908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Projects (2)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25%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508977"/>
                  </a:ext>
                </a:extLst>
              </a:tr>
              <a:tr h="45908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Mid-Term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25%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58108"/>
                  </a:ext>
                </a:extLst>
              </a:tr>
              <a:tr h="45908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Final Exam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25%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603850"/>
                  </a:ext>
                </a:extLst>
              </a:tr>
              <a:tr h="45908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Total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100%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424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3342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18590-F882-28CF-991D-02F72E6EA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282" y="331694"/>
            <a:ext cx="9971092" cy="797859"/>
          </a:xfrm>
        </p:spPr>
        <p:txBody>
          <a:bodyPr>
            <a:normAutofit/>
          </a:bodyPr>
          <a:lstStyle/>
          <a:p>
            <a:r>
              <a:rPr lang="en-US" dirty="0"/>
              <a:t>The secret to success – how to thrive!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0267A-64AC-9C24-F180-A2E25B44A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5217" y="1470211"/>
            <a:ext cx="10098157" cy="5298141"/>
          </a:xfrm>
        </p:spPr>
        <p:txBody>
          <a:bodyPr>
            <a:normAutofit/>
          </a:bodyPr>
          <a:lstStyle/>
          <a:p>
            <a:r>
              <a:rPr lang="en-US" sz="2200" dirty="0"/>
              <a:t>Deliberate Learning – the 5-hour rule - </a:t>
            </a:r>
            <a:r>
              <a:rPr lang="en-US" sz="2200" dirty="0">
                <a:hlinkClick r:id="rId2"/>
              </a:rPr>
              <a:t>https://blog.taskque.com/5-hour-rule-learning/</a:t>
            </a:r>
            <a:endParaRPr lang="en-US" sz="2200" dirty="0"/>
          </a:p>
          <a:p>
            <a:r>
              <a:rPr lang="en-US" sz="2200" dirty="0"/>
              <a:t>Don’t be distracted during class – put away your phone and turn off notifications</a:t>
            </a:r>
          </a:p>
          <a:p>
            <a:r>
              <a:rPr lang="en-US" sz="2200" dirty="0"/>
              <a:t>Keep up in class and make notes/comments in your code, review videos</a:t>
            </a:r>
          </a:p>
          <a:p>
            <a:r>
              <a:rPr lang="en-US" sz="2200" dirty="0"/>
              <a:t>If it does not make sense to you, tell me to slow down or ask me to repeat, just stop me (I can be a compulsive coder)!</a:t>
            </a:r>
          </a:p>
          <a:p>
            <a:r>
              <a:rPr lang="en-US" sz="2200" dirty="0"/>
              <a:t>Review your code from previous class before coming to class</a:t>
            </a:r>
          </a:p>
          <a:p>
            <a:r>
              <a:rPr lang="en-US" sz="2200" dirty="0"/>
              <a:t>Do not procrastinate, most assignments cannot be done overnight</a:t>
            </a:r>
          </a:p>
          <a:p>
            <a:r>
              <a:rPr lang="en-US" sz="2200" dirty="0"/>
              <a:t>Stick to the code you learn in class,  don’t rely on ChatGPT, it may cost you your grade</a:t>
            </a:r>
          </a:p>
          <a:p>
            <a:r>
              <a:rPr lang="en-US" sz="2200" dirty="0"/>
              <a:t>Reach out to the TA – she knows Python very well (and is less scary)!</a:t>
            </a:r>
          </a:p>
          <a:p>
            <a:r>
              <a:rPr lang="en-US" sz="2200" dirty="0"/>
              <a:t>Come to office hours and let’s talk!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08774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152400"/>
            <a:ext cx="7729728" cy="799443"/>
          </a:xfrm>
        </p:spPr>
        <p:txBody>
          <a:bodyPr>
            <a:normAutofit fontScale="90000"/>
          </a:bodyPr>
          <a:lstStyle/>
          <a:p>
            <a:r>
              <a:rPr lang="en-US" dirty="0"/>
              <a:t>Syllabus – attendance and academic honesty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96B4E7-2147-41A0-AED0-9D1A40E0C99D}"/>
              </a:ext>
            </a:extLst>
          </p:cNvPr>
          <p:cNvSpPr txBox="1"/>
          <p:nvPr/>
        </p:nvSpPr>
        <p:spPr>
          <a:xfrm>
            <a:off x="2160016" y="1706880"/>
            <a:ext cx="817270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Minimum 75% attendance is required.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Below 75% results in an automatic final grade of “F” per Baylor policy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Do your own work.  Collaboration and communication with peers is expected but work should be completed individually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Pretty easy to spot copies when classwork doesn’t coincide with homework</a:t>
            </a:r>
          </a:p>
        </p:txBody>
      </p:sp>
    </p:spTree>
    <p:extLst>
      <p:ext uri="{BB962C8B-B14F-4D97-AF65-F5344CB8AC3E}">
        <p14:creationId xmlns:p14="http://schemas.microsoft.com/office/powerpoint/2010/main" val="114568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152400"/>
            <a:ext cx="7729728" cy="799443"/>
          </a:xfrm>
        </p:spPr>
        <p:txBody>
          <a:bodyPr>
            <a:normAutofit/>
          </a:bodyPr>
          <a:lstStyle/>
          <a:p>
            <a:r>
              <a:rPr lang="en-US" dirty="0"/>
              <a:t>Extra credit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96B4E7-2147-41A0-AED0-9D1A40E0C99D}"/>
              </a:ext>
            </a:extLst>
          </p:cNvPr>
          <p:cNvSpPr txBox="1"/>
          <p:nvPr/>
        </p:nvSpPr>
        <p:spPr>
          <a:xfrm>
            <a:off x="2160016" y="1706880"/>
            <a:ext cx="81727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September 3</a:t>
            </a:r>
            <a:r>
              <a:rPr lang="en-US" sz="2400" baseline="30000" dirty="0"/>
              <a:t>rd</a:t>
            </a:r>
            <a:r>
              <a:rPr lang="en-US" sz="2400" dirty="0"/>
              <a:t> @ 6 pm – Check out Fireside Fellowship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October 1</a:t>
            </a:r>
            <a:r>
              <a:rPr lang="en-US" sz="2400" baseline="30000" dirty="0"/>
              <a:t>st</a:t>
            </a:r>
            <a:r>
              <a:rPr lang="en-US" sz="2400" dirty="0"/>
              <a:t> @ 6 pm – MIS Career Night Dinner</a:t>
            </a:r>
          </a:p>
        </p:txBody>
      </p:sp>
    </p:spTree>
    <p:extLst>
      <p:ext uri="{BB962C8B-B14F-4D97-AF65-F5344CB8AC3E}">
        <p14:creationId xmlns:p14="http://schemas.microsoft.com/office/powerpoint/2010/main" val="836362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people interacting with each other&#10;&#10;Description automatically generated with low confidence">
            <a:extLst>
              <a:ext uri="{FF2B5EF4-FFF2-40B4-BE49-F238E27FC236}">
                <a16:creationId xmlns:a16="http://schemas.microsoft.com/office/drawing/2014/main" id="{E2E0FE0E-7A9E-454B-BA5A-F67A90C688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81618" y="639548"/>
            <a:ext cx="8079835" cy="5578903"/>
          </a:xfrm>
        </p:spPr>
      </p:pic>
    </p:spTree>
    <p:extLst>
      <p:ext uri="{BB962C8B-B14F-4D97-AF65-F5344CB8AC3E}">
        <p14:creationId xmlns:p14="http://schemas.microsoft.com/office/powerpoint/2010/main" val="73179386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635D4D"/>
      </a:dk2>
      <a:lt2>
        <a:srgbClr val="D8D6BA"/>
      </a:lt2>
      <a:accent1>
        <a:srgbClr val="9CBEBD"/>
      </a:accent1>
      <a:accent2>
        <a:srgbClr val="D2CB6C"/>
      </a:accent2>
      <a:accent3>
        <a:srgbClr val="9D9A93"/>
      </a:accent3>
      <a:accent4>
        <a:srgbClr val="C89F5D"/>
      </a:accent4>
      <a:accent5>
        <a:srgbClr val="A9A57C"/>
      </a:accent5>
      <a:accent6>
        <a:srgbClr val="95A39D"/>
      </a:accent6>
      <a:hlink>
        <a:srgbClr val="D25814"/>
      </a:hlink>
      <a:folHlink>
        <a:srgbClr val="849A0A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0BDC4BB7-8AF9-46FD-8C32-AB93AC9C410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7997</TotalTime>
  <Words>415</Words>
  <Application>Microsoft Office PowerPoint</Application>
  <PresentationFormat>Widescreen</PresentationFormat>
  <Paragraphs>68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Gill Sans MT</vt:lpstr>
      <vt:lpstr>Times New Roman</vt:lpstr>
      <vt:lpstr>Parcel</vt:lpstr>
      <vt:lpstr>advanced Python</vt:lpstr>
      <vt:lpstr>introduction</vt:lpstr>
      <vt:lpstr>Contact info</vt:lpstr>
      <vt:lpstr>Syllabus</vt:lpstr>
      <vt:lpstr>Syllabus – grade breakdown</vt:lpstr>
      <vt:lpstr>The secret to success – how to thrive!</vt:lpstr>
      <vt:lpstr>Syllabus – attendance and academic honesty</vt:lpstr>
      <vt:lpstr>Extra credit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foundations of Database SYSTEMS</dc:title>
  <dc:creator>Johnny Bhojwani</dc:creator>
  <cp:lastModifiedBy>Bhojwani, Johnny</cp:lastModifiedBy>
  <cp:revision>93</cp:revision>
  <dcterms:created xsi:type="dcterms:W3CDTF">2017-08-21T04:50:12Z</dcterms:created>
  <dcterms:modified xsi:type="dcterms:W3CDTF">2024-08-26T05:06:19Z</dcterms:modified>
</cp:coreProperties>
</file>